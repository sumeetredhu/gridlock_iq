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y678\Desktop\Flipkart\gridlock_iq\assets\fig_cis_heatmap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rcRect l="0" r="0" t="0" b="0"/>
          <a:stretch/>
        </p:blipFill>
        <p:spPr>
          <a:xfrm>
            <a:off x="7635240" y="0"/>
            <a:ext cx="45262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E1520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GRiD · ML TRACK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GridLock IQ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Parking-Induced Congestion Intelligence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6E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don't count tickets — we measure the traffic they steal.”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429768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4462272"/>
            <a:ext cx="201168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E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40.9%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49808" y="5261458"/>
            <a:ext cx="197510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congestion impact sits in 64 hotspot cells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71800" y="429768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063240" y="4462272"/>
            <a:ext cx="201168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7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081528" y="5261458"/>
            <a:ext cx="197510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impact relieved by just 24 optimally-placed patrol units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03520" y="429768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94960" y="4462272"/>
            <a:ext cx="201168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84.9×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413248" y="5261458"/>
            <a:ext cx="197510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patrol payroll (planning estimate)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298,450 real Bengaluru enforcement tickets  ·  Nov 2023 – Apr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Enforcement is blind to congestion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F57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&amp; patrol-based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chase reports; no system points them to the worst spots first.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F57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impact heatmap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821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are counted, but their effect on traffic flow is never measured.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F57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prioritize zones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3251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limited marshals, nobody knows which 1% of streets to cover.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1691640"/>
            <a:ext cx="3749040" cy="3657600"/>
          </a:xfrm>
          <a:prstGeom prst="roundRect">
            <a:avLst>
              <a:gd name="adj" fmla="val 2500"/>
            </a:avLst>
          </a:prstGeom>
          <a:solidFill>
            <a:srgbClr val="1220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2286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298,450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04672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parking-enforcement tickets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0" y="3063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 stations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467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Bengaluru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4672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50.4%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04672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 at a mapped junction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231,890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04672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vehicles tracked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turn each violation into capacity lost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220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E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</a:t>
            </a:r>
            <a:pPr indent="0" marL="0">
              <a:buNone/>
            </a:pPr>
            <a:r>
              <a:rPr lang="en-US" sz="2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severity  ×  vehicle footprint  ×  </a:t>
            </a:r>
            <a:pPr indent="0" marL="0">
              <a:buNone/>
            </a:pPr>
            <a:r>
              <a:rPr lang="en-US" sz="2100" b="1" dirty="0">
                <a:solidFill>
                  <a:srgbClr val="F57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/ lane_count)</a:t>
            </a:r>
            <a:pPr indent="0" marL="0">
              <a:buNone/>
            </a:pPr>
            <a:r>
              <a:rPr lang="en-US" sz="2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 junction  ×  peak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9728" cy="868680"/>
          </a:xfrm>
          <a:prstGeom prst="rect">
            <a:avLst/>
          </a:prstGeom>
          <a:solidFill>
            <a:srgbClr val="16E0A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63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OSM road fusion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4472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coords snapped to OpenStreetMap; 51% carry an explicit lane tag. Blocking 1 of 2 lanes ≫ 1 of 6.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109728" cy="868680"/>
          </a:xfrm>
          <a:prstGeom prst="rect">
            <a:avLst/>
          </a:prstGeom>
          <a:solidFill>
            <a:srgbClr val="16E0A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index, not a count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4988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 double-parked in 1 of 2 lanes at a junction in rush hour scores ~30× a scooter on a footpath.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212080"/>
            <a:ext cx="109728" cy="868680"/>
          </a:xfrm>
          <a:prstGeom prst="rect">
            <a:avLst/>
          </a:prstGeom>
          <a:solidFill>
            <a:srgbClr val="16E0A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66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the weights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5504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±25% weight noise (300 draws) the top-20 hotspots stay 91% stable.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hurts — statistically, not by eye</a:t>
            </a:r>
            <a:endParaRPr lang="en-US" sz="3000" dirty="0"/>
          </a:p>
        </p:txBody>
      </p:sp>
      <p:pic>
        <p:nvPicPr>
          <p:cNvPr id="4" name="Image 0" descr="C:\Users\Amy678\Desktop\Flipkart\gridlock_iq\assets\fig_hotspo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17320"/>
            <a:ext cx="53035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901952"/>
            <a:ext cx="251460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E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" y="2644445"/>
            <a:ext cx="2478024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survive Getis-Ord Gi* with Benjamini-Hochberg FDR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0" y="17373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66160" y="1901952"/>
            <a:ext cx="251460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7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40.9%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584448" y="2644445"/>
            <a:ext cx="2478024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congestion impact concentrated there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347472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Significant, not just busy.  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Gi* finds cells whose impact exceeds spatial chance; FDR controls 2,534 simultaneous tests, so every flagged cell is real (top cell z ≈ 27, p ≈ 10⁻¹⁶²).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47548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Robustness.  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is 90% stable under ±25% weight perturbation (Spearman 0.998) — the conclusion does not depend on hand-set weights.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tomorrow's worst cells, then optimize patrols</a:t>
            </a:r>
            <a:endParaRPr lang="en-US" sz="3000" dirty="0"/>
          </a:p>
        </p:txBody>
      </p:sp>
      <p:pic>
        <p:nvPicPr>
          <p:cNvPr id="4" name="Image 0" descr="C:\Users\Amy678\Desktop\Flipkart\gridlock_iq\assets\fig_patrol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2194560"/>
            <a:ext cx="54864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(temporal holdout, vs naive baseline)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lower MAE</a:t>
            </a:r>
            <a:pPr indent="0" marL="0">
              <a:buNone/>
            </a:pPr>
            <a:r>
              <a:rPr lang="en-US" sz="14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persistence (56.66 vs 66.39); Precision@30 0.659 — matches persistence on ranking, wins on magnitude. A true forward forecast for any shift.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OPTIMIZER (greedy submodular, ≥63% of optimal)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 of city impact from 12 units</a:t>
            </a:r>
            <a:pPr indent="0" marL="0">
              <a:buNone/>
            </a:pPr>
            <a:r>
              <a:rPr lang="en-US" sz="14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24 units relieve 50% — then the curve flattens. That is the city's exact funding answer, drag-the-slider live in the demo.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PAYS FOR ITSELF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wasted effort — and price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WASTED-ENFORCEMENT MODEL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30.1%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reviewed tickets are rejected — each a wasted officer-hour.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0.707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14,734 officer-hours/yr saveable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prioritize human review, not auto-reject — human stays in the loop.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220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LAYER (transparent, tunable)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₹211.5 cr/yr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46520" y="3063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parking-induced congestion cost (planning estimate).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3657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5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40.9% of that cost sits in the hotspots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patrol → 84.9× ROI on its payroll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5029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enforcement is high-leverage: small spend, large relief.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ENFORCEMENT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the problem out — and close 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E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♻️  Chronic sites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6112" y="27432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919 micro-sites are ticketed almost daily yet never improve. We recommend the fix — ANPR cameras, bollards, loading bays — not more tickets.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E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🚗  Repeat offenders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53712" y="27432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711 vehicles have 10+ violations (worst: 55). A leaderboard for escalation and targeted action.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E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📷  CV auto-detection (live)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11312" y="27432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YOLOv8 detector on junction CCTV / patrol dashcams flags illegal parking in real time and feeds the SAME CIS pipeline — zero human latency. Built and running.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Targeted enforcement, on a screen the city can fund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50592"/>
            <a:ext cx="256032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E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3249778"/>
            <a:ext cx="252374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in 64 hotspot cells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2286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2450592"/>
            <a:ext cx="256032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7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units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30168" y="3249778"/>
            <a:ext cx="252374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relieve 50% of impact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450592"/>
            <a:ext cx="256032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₹211.5 cr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10528" y="3249778"/>
            <a:ext cx="252374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congestion / yr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81160" y="228600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16202E"/>
          </a:solidFill>
          <a:ln w="12700">
            <a:solidFill>
              <a:srgbClr val="243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72600" y="2450592"/>
            <a:ext cx="205740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E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84.9×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90888" y="3249778"/>
            <a:ext cx="202082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ROI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16E0A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5537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nightly batch → next-shift heatmap + patrol routes pushed to marshals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384048" cy="384048"/>
          </a:xfrm>
          <a:prstGeom prst="ellipse">
            <a:avLst/>
          </a:prstGeom>
          <a:solidFill>
            <a:srgbClr val="16E0A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1206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ticket feed → daily retraining of forecast &amp; rejection models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705856"/>
            <a:ext cx="384048" cy="384048"/>
          </a:xfrm>
          <a:prstGeom prst="ellipse">
            <a:avLst/>
          </a:prstGeom>
          <a:solidFill>
            <a:srgbClr val="16E0A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705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5687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CV edge detection on CCTV → auto-tickets into the same CIS pipeline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 IQ — built end-to-end on 298,450 real Bengaluru tickets.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GridLock IQ — Parking-Induced Congestion Intelligence</dc:title>
  <dc:subject>PptxGenJS Presentation</dc:subject>
  <dc:creator>GridLock IQ</dc:creator>
  <cp:lastModifiedBy>GridLock IQ</cp:lastModifiedBy>
  <cp:revision>1</cp:revision>
  <dcterms:created xsi:type="dcterms:W3CDTF">2026-06-17T16:50:54Z</dcterms:created>
  <dcterms:modified xsi:type="dcterms:W3CDTF">2026-06-17T16:50:54Z</dcterms:modified>
</cp:coreProperties>
</file>